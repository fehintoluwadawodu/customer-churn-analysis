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2" r:id="rId3"/>
    <p:sldId id="264" r:id="rId4"/>
    <p:sldId id="258" r:id="rId5"/>
    <p:sldId id="265" r:id="rId6"/>
    <p:sldId id="260" r:id="rId7"/>
    <p:sldId id="263" r:id="rId8"/>
    <p:sldId id="259" r:id="rId9"/>
    <p:sldId id="261"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04" autoAdjust="0"/>
    <p:restoredTop sz="94660"/>
  </p:normalViewPr>
  <p:slideViewPr>
    <p:cSldViewPr snapToGrid="0">
      <p:cViewPr varScale="1">
        <p:scale>
          <a:sx n="67" d="100"/>
          <a:sy n="67" d="100"/>
        </p:scale>
        <p:origin x="66" y="4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Admin\Documents\DATALAB\WA_Fn-UseC_-Telco-Customer-Churn.csv"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0" i="0" u="none" strike="noStrike" kern="1200" spc="0" baseline="0">
                <a:solidFill>
                  <a:schemeClr val="tx1">
                    <a:lumMod val="65000"/>
                    <a:lumOff val="35000"/>
                  </a:schemeClr>
                </a:solidFill>
                <a:latin typeface="+mn-lt"/>
                <a:ea typeface="+mn-ea"/>
                <a:cs typeface="+mn-cs"/>
              </a:defRPr>
            </a:pPr>
            <a:r>
              <a:rPr lang="en-US" sz="1800">
                <a:solidFill>
                  <a:schemeClr val="tx1"/>
                </a:solidFill>
              </a:rPr>
              <a:t>Churn rate By Contract</a:t>
            </a:r>
            <a:r>
              <a:rPr lang="en-US" sz="1800" baseline="0">
                <a:solidFill>
                  <a:schemeClr val="tx1"/>
                </a:solidFill>
              </a:rPr>
              <a:t> Type</a:t>
            </a:r>
            <a:endParaRPr lang="en-US" sz="1800">
              <a:solidFill>
                <a:schemeClr val="tx1"/>
              </a:solidFill>
            </a:endParaRPr>
          </a:p>
        </c:rich>
      </c:tx>
      <c:overlay val="0"/>
      <c:spPr>
        <a:noFill/>
        <a:ln>
          <a:noFill/>
        </a:ln>
        <a:effectLst/>
      </c:spPr>
      <c:txPr>
        <a:bodyPr rot="0" spcFirstLastPara="1" vertOverflow="ellipsis" vert="horz" wrap="square" anchor="ctr" anchorCtr="1"/>
        <a:lstStyle/>
        <a:p>
          <a:pPr>
            <a:defRPr sz="18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11769274748286716"/>
          <c:y val="0.15150890030523545"/>
          <c:w val="0.83818455058357266"/>
          <c:h val="0.68013273283317854"/>
        </c:manualLayout>
      </c:layout>
      <c:barChart>
        <c:barDir val="col"/>
        <c:grouping val="clustered"/>
        <c:varyColors val="0"/>
        <c:ser>
          <c:idx val="1"/>
          <c:order val="1"/>
          <c:tx>
            <c:strRef>
              <c:f>Sheet1!$C$14</c:f>
              <c:strCache>
                <c:ptCount val="1"/>
                <c:pt idx="0">
                  <c:v>Churn rate</c:v>
                </c:pt>
              </c:strCache>
            </c:strRef>
          </c:tx>
          <c:spPr>
            <a:solidFill>
              <a:srgbClr val="C00000"/>
            </a:solidFill>
            <a:ln>
              <a:noFill/>
            </a:ln>
            <a:effectLst/>
          </c:spPr>
          <c:invertIfNegative val="0"/>
          <c:cat>
            <c:strRef>
              <c:f>Sheet1!$A$15:$A$17</c:f>
              <c:strCache>
                <c:ptCount val="3"/>
                <c:pt idx="0">
                  <c:v>Month-to-month</c:v>
                </c:pt>
                <c:pt idx="1">
                  <c:v>One year</c:v>
                </c:pt>
                <c:pt idx="2">
                  <c:v>Two year</c:v>
                </c:pt>
              </c:strCache>
            </c:strRef>
          </c:cat>
          <c:val>
            <c:numRef>
              <c:f>Sheet1!$C$15:$C$17</c:f>
              <c:numCache>
                <c:formatCode>0.00%</c:formatCode>
                <c:ptCount val="3"/>
                <c:pt idx="0">
                  <c:v>0.23498509158029249</c:v>
                </c:pt>
                <c:pt idx="1">
                  <c:v>2.3569501632826919E-2</c:v>
                </c:pt>
                <c:pt idx="2">
                  <c:v>6.8152775805764591E-3</c:v>
                </c:pt>
              </c:numCache>
            </c:numRef>
          </c:val>
          <c:extLst>
            <c:ext xmlns:c16="http://schemas.microsoft.com/office/drawing/2014/chart" uri="{C3380CC4-5D6E-409C-BE32-E72D297353CC}">
              <c16:uniqueId val="{00000000-EB19-4A7C-908A-AAF5CC5594E9}"/>
            </c:ext>
          </c:extLst>
        </c:ser>
        <c:dLbls>
          <c:showLegendKey val="0"/>
          <c:showVal val="0"/>
          <c:showCatName val="0"/>
          <c:showSerName val="0"/>
          <c:showPercent val="0"/>
          <c:showBubbleSize val="0"/>
        </c:dLbls>
        <c:gapWidth val="219"/>
        <c:overlap val="-27"/>
        <c:axId val="223008063"/>
        <c:axId val="223030527"/>
        <c:extLst>
          <c:ext xmlns:c15="http://schemas.microsoft.com/office/drawing/2012/chart" uri="{02D57815-91ED-43cb-92C2-25804820EDAC}">
            <c15:filteredBarSeries>
              <c15:ser>
                <c:idx val="0"/>
                <c:order val="0"/>
                <c:tx>
                  <c:strRef>
                    <c:extLst>
                      <c:ext uri="{02D57815-91ED-43cb-92C2-25804820EDAC}">
                        <c15:formulaRef>
                          <c15:sqref>Sheet1!$B$14</c15:sqref>
                        </c15:formulaRef>
                      </c:ext>
                    </c:extLst>
                    <c:strCache>
                      <c:ptCount val="1"/>
                      <c:pt idx="0">
                        <c:v>Retention rate</c:v>
                      </c:pt>
                    </c:strCache>
                  </c:strRef>
                </c:tx>
                <c:spPr>
                  <a:solidFill>
                    <a:schemeClr val="accent1"/>
                  </a:solidFill>
                  <a:ln>
                    <a:noFill/>
                  </a:ln>
                  <a:effectLst/>
                </c:spPr>
                <c:invertIfNegative val="0"/>
                <c:cat>
                  <c:strRef>
                    <c:extLst>
                      <c:ext uri="{02D57815-91ED-43cb-92C2-25804820EDAC}">
                        <c15:formulaRef>
                          <c15:sqref>Sheet1!$A$15:$A$17</c15:sqref>
                        </c15:formulaRef>
                      </c:ext>
                    </c:extLst>
                    <c:strCache>
                      <c:ptCount val="3"/>
                      <c:pt idx="0">
                        <c:v>Month-to-month</c:v>
                      </c:pt>
                      <c:pt idx="1">
                        <c:v>One year</c:v>
                      </c:pt>
                      <c:pt idx="2">
                        <c:v>Two year</c:v>
                      </c:pt>
                    </c:strCache>
                  </c:strRef>
                </c:cat>
                <c:val>
                  <c:numRef>
                    <c:extLst>
                      <c:ext uri="{02D57815-91ED-43cb-92C2-25804820EDAC}">
                        <c15:formulaRef>
                          <c15:sqref>Sheet1!$B$15:$B$17</c15:sqref>
                        </c15:formulaRef>
                      </c:ext>
                    </c:extLst>
                    <c:numCache>
                      <c:formatCode>0.00%</c:formatCode>
                      <c:ptCount val="3"/>
                      <c:pt idx="0">
                        <c:v>0.31520658810166124</c:v>
                      </c:pt>
                      <c:pt idx="1">
                        <c:v>0.18557432912111316</c:v>
                      </c:pt>
                      <c:pt idx="2">
                        <c:v>0.23384921198352976</c:v>
                      </c:pt>
                    </c:numCache>
                  </c:numRef>
                </c:val>
                <c:extLst>
                  <c:ext xmlns:c16="http://schemas.microsoft.com/office/drawing/2014/chart" uri="{C3380CC4-5D6E-409C-BE32-E72D297353CC}">
                    <c16:uniqueId val="{00000001-EB19-4A7C-908A-AAF5CC5594E9}"/>
                  </c:ext>
                </c:extLst>
              </c15:ser>
            </c15:filteredBarSeries>
          </c:ext>
        </c:extLst>
      </c:barChart>
      <c:catAx>
        <c:axId val="22300806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50" b="0" i="0" u="none" strike="noStrike" kern="1200" baseline="0">
                <a:solidFill>
                  <a:schemeClr val="tx1"/>
                </a:solidFill>
                <a:latin typeface="+mn-lt"/>
                <a:ea typeface="+mn-ea"/>
                <a:cs typeface="+mn-cs"/>
              </a:defRPr>
            </a:pPr>
            <a:endParaRPr lang="en-US"/>
          </a:p>
        </c:txPr>
        <c:crossAx val="223030527"/>
        <c:crosses val="autoZero"/>
        <c:auto val="1"/>
        <c:lblAlgn val="ctr"/>
        <c:lblOffset val="100"/>
        <c:noMultiLvlLbl val="0"/>
      </c:catAx>
      <c:valAx>
        <c:axId val="223030527"/>
        <c:scaling>
          <c:orientation val="minMax"/>
        </c:scaling>
        <c:delete val="0"/>
        <c:axPos val="l"/>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1050" b="0" i="0" u="none" strike="noStrike" kern="1200" baseline="0">
                <a:solidFill>
                  <a:schemeClr val="tx1"/>
                </a:solidFill>
                <a:latin typeface="+mn-lt"/>
                <a:ea typeface="+mn-ea"/>
                <a:cs typeface="+mn-cs"/>
              </a:defRPr>
            </a:pPr>
            <a:endParaRPr lang="en-US"/>
          </a:p>
        </c:txPr>
        <c:crossAx val="223008063"/>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EADCE9-8E26-4A9F-9A2E-CB6819E2D03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39A871C-48BE-4632-8566-D99697C5856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7C40B33-016A-4B3F-9DD1-D8D3872EA80C}"/>
              </a:ext>
            </a:extLst>
          </p:cNvPr>
          <p:cNvSpPr>
            <a:spLocks noGrp="1"/>
          </p:cNvSpPr>
          <p:nvPr>
            <p:ph type="dt" sz="half" idx="10"/>
          </p:nvPr>
        </p:nvSpPr>
        <p:spPr/>
        <p:txBody>
          <a:bodyPr/>
          <a:lstStyle/>
          <a:p>
            <a:fld id="{11056516-7F5E-43A1-84A9-5445F73B5A66}" type="datetimeFigureOut">
              <a:rPr lang="en-US" smtClean="0"/>
              <a:t>8/7/2026</a:t>
            </a:fld>
            <a:endParaRPr lang="en-US"/>
          </a:p>
        </p:txBody>
      </p:sp>
      <p:sp>
        <p:nvSpPr>
          <p:cNvPr id="5" name="Footer Placeholder 4">
            <a:extLst>
              <a:ext uri="{FF2B5EF4-FFF2-40B4-BE49-F238E27FC236}">
                <a16:creationId xmlns:a16="http://schemas.microsoft.com/office/drawing/2014/main" id="{C6D3383A-D2D9-4852-8956-86497B9EA6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26D75B4-015F-4A1A-9717-693AADBCE3C9}"/>
              </a:ext>
            </a:extLst>
          </p:cNvPr>
          <p:cNvSpPr>
            <a:spLocks noGrp="1"/>
          </p:cNvSpPr>
          <p:nvPr>
            <p:ph type="sldNum" sz="quarter" idx="12"/>
          </p:nvPr>
        </p:nvSpPr>
        <p:spPr/>
        <p:txBody>
          <a:bodyPr/>
          <a:lstStyle/>
          <a:p>
            <a:fld id="{4B594B27-210E-412D-85C9-0A634E00337C}" type="slidenum">
              <a:rPr lang="en-US" smtClean="0"/>
              <a:t>‹#›</a:t>
            </a:fld>
            <a:endParaRPr lang="en-US"/>
          </a:p>
        </p:txBody>
      </p:sp>
    </p:spTree>
    <p:extLst>
      <p:ext uri="{BB962C8B-B14F-4D97-AF65-F5344CB8AC3E}">
        <p14:creationId xmlns:p14="http://schemas.microsoft.com/office/powerpoint/2010/main" val="39640373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C5EBAA-8674-49A6-A6B9-A6852058ADD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98395EA-9C30-40B2-AEAD-455499D61F5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3CAF56F-BC89-4345-8B7B-083CF110DAB0}"/>
              </a:ext>
            </a:extLst>
          </p:cNvPr>
          <p:cNvSpPr>
            <a:spLocks noGrp="1"/>
          </p:cNvSpPr>
          <p:nvPr>
            <p:ph type="dt" sz="half" idx="10"/>
          </p:nvPr>
        </p:nvSpPr>
        <p:spPr/>
        <p:txBody>
          <a:bodyPr/>
          <a:lstStyle/>
          <a:p>
            <a:fld id="{11056516-7F5E-43A1-84A9-5445F73B5A66}" type="datetimeFigureOut">
              <a:rPr lang="en-US" smtClean="0"/>
              <a:t>8/7/2026</a:t>
            </a:fld>
            <a:endParaRPr lang="en-US"/>
          </a:p>
        </p:txBody>
      </p:sp>
      <p:sp>
        <p:nvSpPr>
          <p:cNvPr id="5" name="Footer Placeholder 4">
            <a:extLst>
              <a:ext uri="{FF2B5EF4-FFF2-40B4-BE49-F238E27FC236}">
                <a16:creationId xmlns:a16="http://schemas.microsoft.com/office/drawing/2014/main" id="{80B02FBB-6012-4A94-A07C-B366EDE402C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AF28470-2A4B-427A-B3E0-FCD6937A2AF7}"/>
              </a:ext>
            </a:extLst>
          </p:cNvPr>
          <p:cNvSpPr>
            <a:spLocks noGrp="1"/>
          </p:cNvSpPr>
          <p:nvPr>
            <p:ph type="sldNum" sz="quarter" idx="12"/>
          </p:nvPr>
        </p:nvSpPr>
        <p:spPr/>
        <p:txBody>
          <a:bodyPr/>
          <a:lstStyle/>
          <a:p>
            <a:fld id="{4B594B27-210E-412D-85C9-0A634E00337C}" type="slidenum">
              <a:rPr lang="en-US" smtClean="0"/>
              <a:t>‹#›</a:t>
            </a:fld>
            <a:endParaRPr lang="en-US"/>
          </a:p>
        </p:txBody>
      </p:sp>
    </p:spTree>
    <p:extLst>
      <p:ext uri="{BB962C8B-B14F-4D97-AF65-F5344CB8AC3E}">
        <p14:creationId xmlns:p14="http://schemas.microsoft.com/office/powerpoint/2010/main" val="41385774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4EB3BE-8BE1-4214-967D-C513C660654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73608D5-ABB2-41D2-9285-F77CB2B95D1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DECB56E-6449-4088-9430-334F03B34D47}"/>
              </a:ext>
            </a:extLst>
          </p:cNvPr>
          <p:cNvSpPr>
            <a:spLocks noGrp="1"/>
          </p:cNvSpPr>
          <p:nvPr>
            <p:ph type="dt" sz="half" idx="10"/>
          </p:nvPr>
        </p:nvSpPr>
        <p:spPr/>
        <p:txBody>
          <a:bodyPr/>
          <a:lstStyle/>
          <a:p>
            <a:fld id="{11056516-7F5E-43A1-84A9-5445F73B5A66}" type="datetimeFigureOut">
              <a:rPr lang="en-US" smtClean="0"/>
              <a:t>8/7/2026</a:t>
            </a:fld>
            <a:endParaRPr lang="en-US"/>
          </a:p>
        </p:txBody>
      </p:sp>
      <p:sp>
        <p:nvSpPr>
          <p:cNvPr id="5" name="Footer Placeholder 4">
            <a:extLst>
              <a:ext uri="{FF2B5EF4-FFF2-40B4-BE49-F238E27FC236}">
                <a16:creationId xmlns:a16="http://schemas.microsoft.com/office/drawing/2014/main" id="{25BB58E8-BD99-4CDD-BCC2-690A1F44BA2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FC6114-3310-4B9C-9764-5770A2F21A10}"/>
              </a:ext>
            </a:extLst>
          </p:cNvPr>
          <p:cNvSpPr>
            <a:spLocks noGrp="1"/>
          </p:cNvSpPr>
          <p:nvPr>
            <p:ph type="sldNum" sz="quarter" idx="12"/>
          </p:nvPr>
        </p:nvSpPr>
        <p:spPr/>
        <p:txBody>
          <a:bodyPr/>
          <a:lstStyle/>
          <a:p>
            <a:fld id="{4B594B27-210E-412D-85C9-0A634E00337C}" type="slidenum">
              <a:rPr lang="en-US" smtClean="0"/>
              <a:t>‹#›</a:t>
            </a:fld>
            <a:endParaRPr lang="en-US"/>
          </a:p>
        </p:txBody>
      </p:sp>
    </p:spTree>
    <p:extLst>
      <p:ext uri="{BB962C8B-B14F-4D97-AF65-F5344CB8AC3E}">
        <p14:creationId xmlns:p14="http://schemas.microsoft.com/office/powerpoint/2010/main" val="31450118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48CAEB-D1AE-4495-9966-99CE53568FF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9D2AF87-1724-4C69-8FC0-7B28C24751A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30AD4BC-5A92-4DC5-A12A-1C3CDEE91A9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6816342-C49A-4C5A-ABEC-DE3BC0C81D79}"/>
              </a:ext>
            </a:extLst>
          </p:cNvPr>
          <p:cNvSpPr>
            <a:spLocks noGrp="1"/>
          </p:cNvSpPr>
          <p:nvPr>
            <p:ph type="dt" sz="half" idx="10"/>
          </p:nvPr>
        </p:nvSpPr>
        <p:spPr/>
        <p:txBody>
          <a:bodyPr/>
          <a:lstStyle/>
          <a:p>
            <a:fld id="{11056516-7F5E-43A1-84A9-5445F73B5A66}" type="datetimeFigureOut">
              <a:rPr lang="en-US" smtClean="0"/>
              <a:t>8/7/2026</a:t>
            </a:fld>
            <a:endParaRPr lang="en-US"/>
          </a:p>
        </p:txBody>
      </p:sp>
      <p:sp>
        <p:nvSpPr>
          <p:cNvPr id="6" name="Footer Placeholder 5">
            <a:extLst>
              <a:ext uri="{FF2B5EF4-FFF2-40B4-BE49-F238E27FC236}">
                <a16:creationId xmlns:a16="http://schemas.microsoft.com/office/drawing/2014/main" id="{35427DB3-2259-420B-B975-341E52A0771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5BC73F3-E89A-4749-9826-77A74870BB00}"/>
              </a:ext>
            </a:extLst>
          </p:cNvPr>
          <p:cNvSpPr>
            <a:spLocks noGrp="1"/>
          </p:cNvSpPr>
          <p:nvPr>
            <p:ph type="sldNum" sz="quarter" idx="12"/>
          </p:nvPr>
        </p:nvSpPr>
        <p:spPr/>
        <p:txBody>
          <a:bodyPr/>
          <a:lstStyle/>
          <a:p>
            <a:fld id="{4B594B27-210E-412D-85C9-0A634E00337C}" type="slidenum">
              <a:rPr lang="en-US" smtClean="0"/>
              <a:t>‹#›</a:t>
            </a:fld>
            <a:endParaRPr lang="en-US"/>
          </a:p>
        </p:txBody>
      </p:sp>
    </p:spTree>
    <p:extLst>
      <p:ext uri="{BB962C8B-B14F-4D97-AF65-F5344CB8AC3E}">
        <p14:creationId xmlns:p14="http://schemas.microsoft.com/office/powerpoint/2010/main" val="28287995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4C8FAA-1159-4E2D-AFC1-E06E01B28FF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5990FF5-B7A1-4A43-8714-BDCCDE29003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6FAB952-1328-4F8A-87C7-20A99FE2947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ECCD1EE-D13D-4846-9832-8997A38CBDF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09989F5-C959-4F57-B74F-E8D7608B31E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4FA9D3A-6CBF-43AE-AE4C-DC244381C3C4}"/>
              </a:ext>
            </a:extLst>
          </p:cNvPr>
          <p:cNvSpPr>
            <a:spLocks noGrp="1"/>
          </p:cNvSpPr>
          <p:nvPr>
            <p:ph type="dt" sz="half" idx="10"/>
          </p:nvPr>
        </p:nvSpPr>
        <p:spPr/>
        <p:txBody>
          <a:bodyPr/>
          <a:lstStyle/>
          <a:p>
            <a:fld id="{11056516-7F5E-43A1-84A9-5445F73B5A66}" type="datetimeFigureOut">
              <a:rPr lang="en-US" smtClean="0"/>
              <a:t>8/7/2026</a:t>
            </a:fld>
            <a:endParaRPr lang="en-US"/>
          </a:p>
        </p:txBody>
      </p:sp>
      <p:sp>
        <p:nvSpPr>
          <p:cNvPr id="8" name="Footer Placeholder 7">
            <a:extLst>
              <a:ext uri="{FF2B5EF4-FFF2-40B4-BE49-F238E27FC236}">
                <a16:creationId xmlns:a16="http://schemas.microsoft.com/office/drawing/2014/main" id="{A5371CB4-7782-4244-9FF5-A96097607F5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B0777A6-14CE-40C8-848E-F9576704F1DF}"/>
              </a:ext>
            </a:extLst>
          </p:cNvPr>
          <p:cNvSpPr>
            <a:spLocks noGrp="1"/>
          </p:cNvSpPr>
          <p:nvPr>
            <p:ph type="sldNum" sz="quarter" idx="12"/>
          </p:nvPr>
        </p:nvSpPr>
        <p:spPr/>
        <p:txBody>
          <a:bodyPr/>
          <a:lstStyle/>
          <a:p>
            <a:fld id="{4B594B27-210E-412D-85C9-0A634E00337C}" type="slidenum">
              <a:rPr lang="en-US" smtClean="0"/>
              <a:t>‹#›</a:t>
            </a:fld>
            <a:endParaRPr lang="en-US"/>
          </a:p>
        </p:txBody>
      </p:sp>
    </p:spTree>
    <p:extLst>
      <p:ext uri="{BB962C8B-B14F-4D97-AF65-F5344CB8AC3E}">
        <p14:creationId xmlns:p14="http://schemas.microsoft.com/office/powerpoint/2010/main" val="30367970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D631D7-ED4A-44E1-A55F-F67FE45A7FF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7FE8003-D31A-4E38-94B8-CE63A3EABA67}"/>
              </a:ext>
            </a:extLst>
          </p:cNvPr>
          <p:cNvSpPr>
            <a:spLocks noGrp="1"/>
          </p:cNvSpPr>
          <p:nvPr>
            <p:ph type="dt" sz="half" idx="10"/>
          </p:nvPr>
        </p:nvSpPr>
        <p:spPr/>
        <p:txBody>
          <a:bodyPr/>
          <a:lstStyle/>
          <a:p>
            <a:fld id="{11056516-7F5E-43A1-84A9-5445F73B5A66}" type="datetimeFigureOut">
              <a:rPr lang="en-US" smtClean="0"/>
              <a:t>8/7/2026</a:t>
            </a:fld>
            <a:endParaRPr lang="en-US"/>
          </a:p>
        </p:txBody>
      </p:sp>
      <p:sp>
        <p:nvSpPr>
          <p:cNvPr id="4" name="Footer Placeholder 3">
            <a:extLst>
              <a:ext uri="{FF2B5EF4-FFF2-40B4-BE49-F238E27FC236}">
                <a16:creationId xmlns:a16="http://schemas.microsoft.com/office/drawing/2014/main" id="{7CBB7EB7-D61B-4714-A710-05A5590B23E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6C203CE-917B-4B25-A072-B00454DEE6A4}"/>
              </a:ext>
            </a:extLst>
          </p:cNvPr>
          <p:cNvSpPr>
            <a:spLocks noGrp="1"/>
          </p:cNvSpPr>
          <p:nvPr>
            <p:ph type="sldNum" sz="quarter" idx="12"/>
          </p:nvPr>
        </p:nvSpPr>
        <p:spPr/>
        <p:txBody>
          <a:bodyPr/>
          <a:lstStyle/>
          <a:p>
            <a:fld id="{4B594B27-210E-412D-85C9-0A634E00337C}" type="slidenum">
              <a:rPr lang="en-US" smtClean="0"/>
              <a:t>‹#›</a:t>
            </a:fld>
            <a:endParaRPr lang="en-US"/>
          </a:p>
        </p:txBody>
      </p:sp>
    </p:spTree>
    <p:extLst>
      <p:ext uri="{BB962C8B-B14F-4D97-AF65-F5344CB8AC3E}">
        <p14:creationId xmlns:p14="http://schemas.microsoft.com/office/powerpoint/2010/main" val="4490730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AB4AF65-1A6C-4738-B9CD-AF129666DF12}"/>
              </a:ext>
            </a:extLst>
          </p:cNvPr>
          <p:cNvSpPr>
            <a:spLocks noGrp="1"/>
          </p:cNvSpPr>
          <p:nvPr>
            <p:ph type="dt" sz="half" idx="10"/>
          </p:nvPr>
        </p:nvSpPr>
        <p:spPr/>
        <p:txBody>
          <a:bodyPr/>
          <a:lstStyle/>
          <a:p>
            <a:fld id="{11056516-7F5E-43A1-84A9-5445F73B5A66}" type="datetimeFigureOut">
              <a:rPr lang="en-US" smtClean="0"/>
              <a:t>8/7/2026</a:t>
            </a:fld>
            <a:endParaRPr lang="en-US"/>
          </a:p>
        </p:txBody>
      </p:sp>
      <p:sp>
        <p:nvSpPr>
          <p:cNvPr id="3" name="Footer Placeholder 2">
            <a:extLst>
              <a:ext uri="{FF2B5EF4-FFF2-40B4-BE49-F238E27FC236}">
                <a16:creationId xmlns:a16="http://schemas.microsoft.com/office/drawing/2014/main" id="{3F02382D-B350-4132-808A-268CF5CC4AD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17C2233-2241-4BC2-B748-4CF6204C2174}"/>
              </a:ext>
            </a:extLst>
          </p:cNvPr>
          <p:cNvSpPr>
            <a:spLocks noGrp="1"/>
          </p:cNvSpPr>
          <p:nvPr>
            <p:ph type="sldNum" sz="quarter" idx="12"/>
          </p:nvPr>
        </p:nvSpPr>
        <p:spPr/>
        <p:txBody>
          <a:bodyPr/>
          <a:lstStyle/>
          <a:p>
            <a:fld id="{4B594B27-210E-412D-85C9-0A634E00337C}" type="slidenum">
              <a:rPr lang="en-US" smtClean="0"/>
              <a:t>‹#›</a:t>
            </a:fld>
            <a:endParaRPr lang="en-US"/>
          </a:p>
        </p:txBody>
      </p:sp>
    </p:spTree>
    <p:extLst>
      <p:ext uri="{BB962C8B-B14F-4D97-AF65-F5344CB8AC3E}">
        <p14:creationId xmlns:p14="http://schemas.microsoft.com/office/powerpoint/2010/main" val="29292093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9340FC-2710-4486-9E77-C3AFC33E49A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189DC5E-742E-4AC9-AAFC-95DB135CC87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DE6F6AA-9DA0-40BD-ACB3-20AAE25719F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836C18C-32AC-4B99-8875-326213E79001}"/>
              </a:ext>
            </a:extLst>
          </p:cNvPr>
          <p:cNvSpPr>
            <a:spLocks noGrp="1"/>
          </p:cNvSpPr>
          <p:nvPr>
            <p:ph type="dt" sz="half" idx="10"/>
          </p:nvPr>
        </p:nvSpPr>
        <p:spPr/>
        <p:txBody>
          <a:bodyPr/>
          <a:lstStyle/>
          <a:p>
            <a:fld id="{11056516-7F5E-43A1-84A9-5445F73B5A66}" type="datetimeFigureOut">
              <a:rPr lang="en-US" smtClean="0"/>
              <a:t>8/7/2026</a:t>
            </a:fld>
            <a:endParaRPr lang="en-US"/>
          </a:p>
        </p:txBody>
      </p:sp>
      <p:sp>
        <p:nvSpPr>
          <p:cNvPr id="6" name="Footer Placeholder 5">
            <a:extLst>
              <a:ext uri="{FF2B5EF4-FFF2-40B4-BE49-F238E27FC236}">
                <a16:creationId xmlns:a16="http://schemas.microsoft.com/office/drawing/2014/main" id="{2CE46822-E884-4DD9-BA73-C0669FC9D4C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5D8EA8D-8584-4536-A939-4EAC2AC15AE5}"/>
              </a:ext>
            </a:extLst>
          </p:cNvPr>
          <p:cNvSpPr>
            <a:spLocks noGrp="1"/>
          </p:cNvSpPr>
          <p:nvPr>
            <p:ph type="sldNum" sz="quarter" idx="12"/>
          </p:nvPr>
        </p:nvSpPr>
        <p:spPr/>
        <p:txBody>
          <a:bodyPr/>
          <a:lstStyle/>
          <a:p>
            <a:fld id="{4B594B27-210E-412D-85C9-0A634E00337C}" type="slidenum">
              <a:rPr lang="en-US" smtClean="0"/>
              <a:t>‹#›</a:t>
            </a:fld>
            <a:endParaRPr lang="en-US"/>
          </a:p>
        </p:txBody>
      </p:sp>
    </p:spTree>
    <p:extLst>
      <p:ext uri="{BB962C8B-B14F-4D97-AF65-F5344CB8AC3E}">
        <p14:creationId xmlns:p14="http://schemas.microsoft.com/office/powerpoint/2010/main" val="6514818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632BE3-B2DA-48DD-94F2-0780FDFE3BA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FC4916C-E309-4674-852B-CF4313DCBBF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61CF541-0333-4EB9-8CC4-53E2B2E30A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4BFC06E-19FC-41F6-B51C-9B9E4B236685}"/>
              </a:ext>
            </a:extLst>
          </p:cNvPr>
          <p:cNvSpPr>
            <a:spLocks noGrp="1"/>
          </p:cNvSpPr>
          <p:nvPr>
            <p:ph type="dt" sz="half" idx="10"/>
          </p:nvPr>
        </p:nvSpPr>
        <p:spPr/>
        <p:txBody>
          <a:bodyPr/>
          <a:lstStyle/>
          <a:p>
            <a:fld id="{11056516-7F5E-43A1-84A9-5445F73B5A66}" type="datetimeFigureOut">
              <a:rPr lang="en-US" smtClean="0"/>
              <a:t>8/7/2026</a:t>
            </a:fld>
            <a:endParaRPr lang="en-US"/>
          </a:p>
        </p:txBody>
      </p:sp>
      <p:sp>
        <p:nvSpPr>
          <p:cNvPr id="6" name="Footer Placeholder 5">
            <a:extLst>
              <a:ext uri="{FF2B5EF4-FFF2-40B4-BE49-F238E27FC236}">
                <a16:creationId xmlns:a16="http://schemas.microsoft.com/office/drawing/2014/main" id="{7A16F463-258A-4A51-B56C-8CEC40B6D7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6F1D818-C4B7-4F12-A83E-BB4ACB61B652}"/>
              </a:ext>
            </a:extLst>
          </p:cNvPr>
          <p:cNvSpPr>
            <a:spLocks noGrp="1"/>
          </p:cNvSpPr>
          <p:nvPr>
            <p:ph type="sldNum" sz="quarter" idx="12"/>
          </p:nvPr>
        </p:nvSpPr>
        <p:spPr/>
        <p:txBody>
          <a:bodyPr/>
          <a:lstStyle/>
          <a:p>
            <a:fld id="{4B594B27-210E-412D-85C9-0A634E00337C}" type="slidenum">
              <a:rPr lang="en-US" smtClean="0"/>
              <a:t>‹#›</a:t>
            </a:fld>
            <a:endParaRPr lang="en-US"/>
          </a:p>
        </p:txBody>
      </p:sp>
    </p:spTree>
    <p:extLst>
      <p:ext uri="{BB962C8B-B14F-4D97-AF65-F5344CB8AC3E}">
        <p14:creationId xmlns:p14="http://schemas.microsoft.com/office/powerpoint/2010/main" val="38216946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F52B87-A864-457D-BEDA-33E9E2FAE2D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72ECCF2-065D-40DB-BC23-0C04A0F0FF2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1FC490B-B0ED-404D-BA75-4CACFAA576E5}"/>
              </a:ext>
            </a:extLst>
          </p:cNvPr>
          <p:cNvSpPr>
            <a:spLocks noGrp="1"/>
          </p:cNvSpPr>
          <p:nvPr>
            <p:ph type="dt" sz="half" idx="10"/>
          </p:nvPr>
        </p:nvSpPr>
        <p:spPr/>
        <p:txBody>
          <a:bodyPr/>
          <a:lstStyle/>
          <a:p>
            <a:fld id="{11056516-7F5E-43A1-84A9-5445F73B5A66}" type="datetimeFigureOut">
              <a:rPr lang="en-US" smtClean="0"/>
              <a:t>8/7/2026</a:t>
            </a:fld>
            <a:endParaRPr lang="en-US"/>
          </a:p>
        </p:txBody>
      </p:sp>
      <p:sp>
        <p:nvSpPr>
          <p:cNvPr id="5" name="Footer Placeholder 4">
            <a:extLst>
              <a:ext uri="{FF2B5EF4-FFF2-40B4-BE49-F238E27FC236}">
                <a16:creationId xmlns:a16="http://schemas.microsoft.com/office/drawing/2014/main" id="{79E9D30B-24E8-4C24-BF94-7DFF28A2F85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B3C3232-A198-4218-93F1-088405010A0D}"/>
              </a:ext>
            </a:extLst>
          </p:cNvPr>
          <p:cNvSpPr>
            <a:spLocks noGrp="1"/>
          </p:cNvSpPr>
          <p:nvPr>
            <p:ph type="sldNum" sz="quarter" idx="12"/>
          </p:nvPr>
        </p:nvSpPr>
        <p:spPr/>
        <p:txBody>
          <a:bodyPr/>
          <a:lstStyle/>
          <a:p>
            <a:fld id="{4B594B27-210E-412D-85C9-0A634E00337C}" type="slidenum">
              <a:rPr lang="en-US" smtClean="0"/>
              <a:t>‹#›</a:t>
            </a:fld>
            <a:endParaRPr lang="en-US"/>
          </a:p>
        </p:txBody>
      </p:sp>
    </p:spTree>
    <p:extLst>
      <p:ext uri="{BB962C8B-B14F-4D97-AF65-F5344CB8AC3E}">
        <p14:creationId xmlns:p14="http://schemas.microsoft.com/office/powerpoint/2010/main" val="16166325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7C0EE8A-D98F-42B9-81FF-AFE91855AEF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E6A55DD-2B05-4DE7-8ECC-44B2941E8AC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E9DE3CA-2E8E-436A-B0F8-490081AD4A29}"/>
              </a:ext>
            </a:extLst>
          </p:cNvPr>
          <p:cNvSpPr>
            <a:spLocks noGrp="1"/>
          </p:cNvSpPr>
          <p:nvPr>
            <p:ph type="dt" sz="half" idx="10"/>
          </p:nvPr>
        </p:nvSpPr>
        <p:spPr/>
        <p:txBody>
          <a:bodyPr/>
          <a:lstStyle/>
          <a:p>
            <a:fld id="{11056516-7F5E-43A1-84A9-5445F73B5A66}" type="datetimeFigureOut">
              <a:rPr lang="en-US" smtClean="0"/>
              <a:t>8/7/2026</a:t>
            </a:fld>
            <a:endParaRPr lang="en-US"/>
          </a:p>
        </p:txBody>
      </p:sp>
      <p:sp>
        <p:nvSpPr>
          <p:cNvPr id="5" name="Footer Placeholder 4">
            <a:extLst>
              <a:ext uri="{FF2B5EF4-FFF2-40B4-BE49-F238E27FC236}">
                <a16:creationId xmlns:a16="http://schemas.microsoft.com/office/drawing/2014/main" id="{B06561F6-B5DE-4563-AE81-D2FC3931452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12C5584-408D-42BE-9777-838D7F8BC5B4}"/>
              </a:ext>
            </a:extLst>
          </p:cNvPr>
          <p:cNvSpPr>
            <a:spLocks noGrp="1"/>
          </p:cNvSpPr>
          <p:nvPr>
            <p:ph type="sldNum" sz="quarter" idx="12"/>
          </p:nvPr>
        </p:nvSpPr>
        <p:spPr/>
        <p:txBody>
          <a:bodyPr/>
          <a:lstStyle/>
          <a:p>
            <a:fld id="{4B594B27-210E-412D-85C9-0A634E00337C}" type="slidenum">
              <a:rPr lang="en-US" smtClean="0"/>
              <a:t>‹#›</a:t>
            </a:fld>
            <a:endParaRPr lang="en-US"/>
          </a:p>
        </p:txBody>
      </p:sp>
    </p:spTree>
    <p:extLst>
      <p:ext uri="{BB962C8B-B14F-4D97-AF65-F5344CB8AC3E}">
        <p14:creationId xmlns:p14="http://schemas.microsoft.com/office/powerpoint/2010/main" val="18487159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9416A68-EC37-4D7C-A8A0-1845478DD0A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1CA50A8-4EB6-44E8-AE3E-5994DD44BC0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0253416-12E9-4BCD-A34F-297337BA634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1056516-7F5E-43A1-84A9-5445F73B5A66}" type="datetimeFigureOut">
              <a:rPr lang="en-US" smtClean="0"/>
              <a:t>8/7/2026</a:t>
            </a:fld>
            <a:endParaRPr lang="en-US"/>
          </a:p>
        </p:txBody>
      </p:sp>
      <p:sp>
        <p:nvSpPr>
          <p:cNvPr id="5" name="Footer Placeholder 4">
            <a:extLst>
              <a:ext uri="{FF2B5EF4-FFF2-40B4-BE49-F238E27FC236}">
                <a16:creationId xmlns:a16="http://schemas.microsoft.com/office/drawing/2014/main" id="{040D0E67-AA42-42EB-81FC-D3495FD3DB4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83813AD-B2D5-4BB9-91D0-6D2E47C7E61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B594B27-210E-412D-85C9-0A634E00337C}" type="slidenum">
              <a:rPr lang="en-US" smtClean="0"/>
              <a:t>‹#›</a:t>
            </a:fld>
            <a:endParaRPr lang="en-US"/>
          </a:p>
        </p:txBody>
      </p:sp>
    </p:spTree>
    <p:extLst>
      <p:ext uri="{BB962C8B-B14F-4D97-AF65-F5344CB8AC3E}">
        <p14:creationId xmlns:p14="http://schemas.microsoft.com/office/powerpoint/2010/main" val="40942157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98937">
              <a:srgbClr val="C6D4ED"/>
            </a:gs>
            <a:gs pos="97875">
              <a:srgbClr val="C4D3EC"/>
            </a:gs>
            <a:gs pos="95750">
              <a:srgbClr val="C0D0EB"/>
            </a:gs>
            <a:gs pos="46000">
              <a:schemeClr val="tx1">
                <a:lumMod val="50000"/>
                <a:lumOff val="50000"/>
              </a:schemeClr>
            </a:gs>
            <a:gs pos="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463F350-B02C-4429-8AE3-1DC086E2BD55}"/>
              </a:ext>
            </a:extLst>
          </p:cNvPr>
          <p:cNvSpPr txBox="1"/>
          <p:nvPr/>
        </p:nvSpPr>
        <p:spPr>
          <a:xfrm>
            <a:off x="9448799" y="6357938"/>
            <a:ext cx="2743201" cy="369332"/>
          </a:xfrm>
          <a:prstGeom prst="rect">
            <a:avLst/>
          </a:prstGeom>
          <a:noFill/>
        </p:spPr>
        <p:txBody>
          <a:bodyPr wrap="square" rtlCol="0">
            <a:spAutoFit/>
          </a:bodyPr>
          <a:lstStyle/>
          <a:p>
            <a:r>
              <a:rPr lang="en-US" dirty="0">
                <a:solidFill>
                  <a:schemeClr val="bg1">
                    <a:lumMod val="95000"/>
                  </a:schemeClr>
                </a:solidFill>
              </a:rPr>
              <a:t>DAWODU FEHINTOLUWA</a:t>
            </a:r>
          </a:p>
        </p:txBody>
      </p:sp>
      <p:pic>
        <p:nvPicPr>
          <p:cNvPr id="3" name="Picture 2">
            <a:extLst>
              <a:ext uri="{FF2B5EF4-FFF2-40B4-BE49-F238E27FC236}">
                <a16:creationId xmlns:a16="http://schemas.microsoft.com/office/drawing/2014/main" id="{CE4529E1-A791-4D71-8BB6-68964DBAA64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6414901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flip="none" rotWithShape="1">
          <a:gsLst>
            <a:gs pos="98937">
              <a:schemeClr val="accent1">
                <a:lumMod val="50000"/>
              </a:schemeClr>
            </a:gs>
            <a:gs pos="14000">
              <a:srgbClr val="C0D0EB"/>
            </a:gs>
            <a:gs pos="0">
              <a:schemeClr val="accent1">
                <a:lumMod val="45000"/>
                <a:lumOff val="55000"/>
              </a:schemeClr>
            </a:gs>
          </a:gsLst>
          <a:path path="rect">
            <a:fillToRect l="100000" t="100000"/>
          </a:path>
          <a:tileRect r="-100000" b="-100000"/>
        </a:gra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7086BA1-D799-4656-9698-81E5640E1865}"/>
              </a:ext>
            </a:extLst>
          </p:cNvPr>
          <p:cNvSpPr txBox="1"/>
          <p:nvPr/>
        </p:nvSpPr>
        <p:spPr>
          <a:xfrm>
            <a:off x="557213" y="142875"/>
            <a:ext cx="4186237" cy="646331"/>
          </a:xfrm>
          <a:prstGeom prst="rect">
            <a:avLst/>
          </a:prstGeom>
          <a:noFill/>
        </p:spPr>
        <p:txBody>
          <a:bodyPr wrap="square" rtlCol="0">
            <a:spAutoFit/>
          </a:bodyPr>
          <a:lstStyle/>
          <a:p>
            <a:r>
              <a:rPr lang="en-US" sz="3600" dirty="0">
                <a:solidFill>
                  <a:schemeClr val="bg1">
                    <a:lumMod val="95000"/>
                  </a:schemeClr>
                </a:solidFill>
                <a:latin typeface="Times New Roman" panose="02020603050405020304" pitchFamily="18" charset="0"/>
                <a:cs typeface="Times New Roman" panose="02020603050405020304" pitchFamily="18" charset="0"/>
              </a:rPr>
              <a:t>CHURN ANALYSIS</a:t>
            </a:r>
          </a:p>
        </p:txBody>
      </p:sp>
      <p:sp>
        <p:nvSpPr>
          <p:cNvPr id="5" name="TextBox 4">
            <a:extLst>
              <a:ext uri="{FF2B5EF4-FFF2-40B4-BE49-F238E27FC236}">
                <a16:creationId xmlns:a16="http://schemas.microsoft.com/office/drawing/2014/main" id="{D6CFEE7E-F45F-4EC5-A997-DED5A5F240B9}"/>
              </a:ext>
            </a:extLst>
          </p:cNvPr>
          <p:cNvSpPr txBox="1"/>
          <p:nvPr/>
        </p:nvSpPr>
        <p:spPr>
          <a:xfrm>
            <a:off x="266700" y="789206"/>
            <a:ext cx="11658600" cy="1069395"/>
          </a:xfrm>
          <a:prstGeom prst="rect">
            <a:avLst/>
          </a:prstGeom>
          <a:noFill/>
        </p:spPr>
        <p:txBody>
          <a:bodyPr wrap="square" rtlCol="0">
            <a:spAutoFit/>
          </a:bodyPr>
          <a:lstStyle/>
          <a:p>
            <a:pPr marL="0" marR="0">
              <a:lnSpc>
                <a:spcPct val="107000"/>
              </a:lnSpc>
              <a:spcBef>
                <a:spcPts val="0"/>
              </a:spcBef>
              <a:spcAft>
                <a:spcPts val="800"/>
              </a:spcAft>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What is Customer Churn?</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Customer churn is the percentage of customers who stop using a company's products or services within a specific period. This may include canceling subscriptions, switching to competitors, closing accounts, or simply discontinuing purchases.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BF026D38-CE85-4CF0-83AD-F1E971884F2B}"/>
              </a:ext>
            </a:extLst>
          </p:cNvPr>
          <p:cNvSpPr txBox="1"/>
          <p:nvPr/>
        </p:nvSpPr>
        <p:spPr>
          <a:xfrm>
            <a:off x="266700" y="1858601"/>
            <a:ext cx="11658600" cy="1662122"/>
          </a:xfrm>
          <a:prstGeom prst="rect">
            <a:avLst/>
          </a:prstGeom>
          <a:noFill/>
        </p:spPr>
        <p:txBody>
          <a:bodyPr wrap="square" rtlCol="0">
            <a:spAutoFit/>
          </a:bodyPr>
          <a:lstStyle/>
          <a:p>
            <a:pPr marL="0" marR="0">
              <a:lnSpc>
                <a:spcPct val="107000"/>
              </a:lnSpc>
              <a:spcBef>
                <a:spcPts val="0"/>
              </a:spcBef>
              <a:spcAft>
                <a:spcPts val="800"/>
              </a:spcAft>
            </a:pPr>
            <a:r>
              <a:rPr lang="en-US" sz="1800" b="1" kern="1800" dirty="0">
                <a:effectLst/>
                <a:latin typeface="Times New Roman" panose="02020603050405020304" pitchFamily="18" charset="0"/>
                <a:ea typeface="Times New Roman" panose="02020603050405020304" pitchFamily="18" charset="0"/>
                <a:cs typeface="Times New Roman" panose="02020603050405020304" pitchFamily="18" charset="0"/>
              </a:rPr>
              <a:t>Why Customer Churn  Analysis Matters</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Customer churn is important because it helps businesses measure customer satisfaction and identify areas needing improvement. High churn results in revenue loss, increased marketing costs to acquire new customers, reduced customer lifetime value, and slower business growth. Since retaining existing customers is generally more cost-effective than acquiring new ones, monitoring churn is essential for long-term profitability.</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6FC407A8-EF69-485C-AD9D-B4B5D9CA29E6}"/>
              </a:ext>
            </a:extLst>
          </p:cNvPr>
          <p:cNvSpPr txBox="1"/>
          <p:nvPr/>
        </p:nvSpPr>
        <p:spPr>
          <a:xfrm>
            <a:off x="266700" y="3573784"/>
            <a:ext cx="11658600" cy="2995244"/>
          </a:xfrm>
          <a:prstGeom prst="rect">
            <a:avLst/>
          </a:prstGeom>
          <a:noFill/>
        </p:spPr>
        <p:txBody>
          <a:bodyPr wrap="square" rtlCol="0">
            <a:spAutoFit/>
          </a:bodyPr>
          <a:lstStyle/>
          <a:p>
            <a:pPr marL="0" marR="0">
              <a:lnSpc>
                <a:spcPct val="107000"/>
              </a:lnSpc>
              <a:spcBef>
                <a:spcPts val="0"/>
              </a:spcBef>
              <a:spcAft>
                <a:spcPts val="800"/>
              </a:spcAft>
            </a:pPr>
            <a:r>
              <a:rPr lang="en-US" sz="1800" b="1" kern="1800" dirty="0">
                <a:effectLst/>
                <a:latin typeface="Times New Roman" panose="02020603050405020304" pitchFamily="18" charset="0"/>
                <a:ea typeface="Times New Roman" panose="02020603050405020304" pitchFamily="18" charset="0"/>
                <a:cs typeface="Times New Roman" panose="02020603050405020304" pitchFamily="18" charset="0"/>
              </a:rPr>
              <a:t>Factors Influencing Churn in Telecommunications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Customer churn in telecommunications is commonly influenced by:</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Poor network coverage and slow internet speed</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High call or data charges</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Attractive competitor promotions</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Poor customer service</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Billing errors</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endParaRPr lang="en-US" sz="7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E21F2B46-ACC4-44BC-8E29-6FADA3768DF1}"/>
              </a:ext>
            </a:extLst>
          </p:cNvPr>
          <p:cNvSpPr txBox="1"/>
          <p:nvPr/>
        </p:nvSpPr>
        <p:spPr>
          <a:xfrm>
            <a:off x="5486400" y="4237283"/>
            <a:ext cx="4486275" cy="2660472"/>
          </a:xfrm>
          <a:prstGeom prst="rect">
            <a:avLst/>
          </a:prstGeom>
          <a:noFill/>
        </p:spPr>
        <p:txBody>
          <a:bodyPr wrap="square" rtlCol="0">
            <a:spAutoFit/>
          </a:bodyPr>
          <a:lstStyle/>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Limited data plans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Frequent network outages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Lack of customer loyalty programs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Customer demographics and usage patterns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Payment history and subscription type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9187220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325E34-9536-4990-BD51-A75E6F9F6F0A}"/>
              </a:ext>
            </a:extLst>
          </p:cNvPr>
          <p:cNvSpPr>
            <a:spLocks noGrp="1"/>
          </p:cNvSpPr>
          <p:nvPr>
            <p:ph type="title"/>
          </p:nvPr>
        </p:nvSpPr>
        <p:spPr>
          <a:xfrm>
            <a:off x="838200" y="365126"/>
            <a:ext cx="10515600" cy="692150"/>
          </a:xfrm>
        </p:spPr>
        <p:txBody>
          <a:bodyPr>
            <a:normAutofit/>
          </a:bodyPr>
          <a:lstStyle/>
          <a:p>
            <a:r>
              <a:rPr lang="en-US" sz="3200" b="1" dirty="0">
                <a:latin typeface="Times New Roman" panose="02020603050405020304" pitchFamily="18" charset="0"/>
                <a:cs typeface="Times New Roman" panose="02020603050405020304" pitchFamily="18" charset="0"/>
              </a:rPr>
              <a:t>Customer Overview</a:t>
            </a:r>
          </a:p>
        </p:txBody>
      </p:sp>
      <p:pic>
        <p:nvPicPr>
          <p:cNvPr id="5" name="Content Placeholder 4">
            <a:extLst>
              <a:ext uri="{FF2B5EF4-FFF2-40B4-BE49-F238E27FC236}">
                <a16:creationId xmlns:a16="http://schemas.microsoft.com/office/drawing/2014/main" id="{558B5BB2-BFAF-4E5C-B554-BD3E66031C5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457325"/>
            <a:ext cx="11006138" cy="5035550"/>
          </a:xfrm>
        </p:spPr>
      </p:pic>
    </p:spTree>
    <p:extLst>
      <p:ext uri="{BB962C8B-B14F-4D97-AF65-F5344CB8AC3E}">
        <p14:creationId xmlns:p14="http://schemas.microsoft.com/office/powerpoint/2010/main" val="36874026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100000">
              <a:schemeClr val="bg1"/>
            </a:gs>
            <a:gs pos="0">
              <a:schemeClr val="accent1">
                <a:lumMod val="45000"/>
                <a:lumOff val="55000"/>
              </a:schemeClr>
            </a:gs>
          </a:gsLst>
          <a:path path="rect">
            <a:fillToRect l="100000" t="100000"/>
          </a:path>
        </a:gra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E6C29B9-1AAB-4556-9CA2-5AF7271708D9}"/>
              </a:ext>
            </a:extLst>
          </p:cNvPr>
          <p:cNvSpPr txBox="1"/>
          <p:nvPr/>
        </p:nvSpPr>
        <p:spPr>
          <a:xfrm>
            <a:off x="414336" y="371475"/>
            <a:ext cx="9986964" cy="523220"/>
          </a:xfrm>
          <a:prstGeom prst="rect">
            <a:avLst/>
          </a:prstGeom>
          <a:noFill/>
        </p:spPr>
        <p:txBody>
          <a:bodyPr wrap="square" rtlCol="0">
            <a:spAutoFit/>
          </a:bodyPr>
          <a:lstStyle/>
          <a:p>
            <a:r>
              <a:rPr lang="en-US" sz="2800" b="1" dirty="0"/>
              <a:t>Key Drivers of Customer Churn Driver</a:t>
            </a:r>
          </a:p>
        </p:txBody>
      </p:sp>
      <p:graphicFrame>
        <p:nvGraphicFramePr>
          <p:cNvPr id="5" name="Chart 4">
            <a:extLst>
              <a:ext uri="{FF2B5EF4-FFF2-40B4-BE49-F238E27FC236}">
                <a16:creationId xmlns:a16="http://schemas.microsoft.com/office/drawing/2014/main" id="{BF52B854-4829-4732-B065-011A257F4847}"/>
              </a:ext>
            </a:extLst>
          </p:cNvPr>
          <p:cNvGraphicFramePr>
            <a:graphicFrameLocks/>
          </p:cNvGraphicFramePr>
          <p:nvPr>
            <p:extLst>
              <p:ext uri="{D42A27DB-BD31-4B8C-83A1-F6EECF244321}">
                <p14:modId xmlns:p14="http://schemas.microsoft.com/office/powerpoint/2010/main" val="1627615015"/>
              </p:ext>
            </p:extLst>
          </p:nvPr>
        </p:nvGraphicFramePr>
        <p:xfrm>
          <a:off x="6546380" y="1071562"/>
          <a:ext cx="4862514" cy="4377750"/>
        </p:xfrm>
        <a:graphic>
          <a:graphicData uri="http://schemas.openxmlformats.org/drawingml/2006/chart">
            <c:chart xmlns:c="http://schemas.openxmlformats.org/drawingml/2006/chart" xmlns:r="http://schemas.openxmlformats.org/officeDocument/2006/relationships" r:id="rId2"/>
          </a:graphicData>
        </a:graphic>
      </p:graphicFrame>
      <p:sp>
        <p:nvSpPr>
          <p:cNvPr id="6" name="TextBox 5">
            <a:extLst>
              <a:ext uri="{FF2B5EF4-FFF2-40B4-BE49-F238E27FC236}">
                <a16:creationId xmlns:a16="http://schemas.microsoft.com/office/drawing/2014/main" id="{2E44C966-00E4-46B6-B14A-4D6CC907995C}"/>
              </a:ext>
            </a:extLst>
          </p:cNvPr>
          <p:cNvSpPr txBox="1"/>
          <p:nvPr/>
        </p:nvSpPr>
        <p:spPr>
          <a:xfrm>
            <a:off x="509348" y="5934670"/>
            <a:ext cx="10703482" cy="923330"/>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Customers</a:t>
            </a:r>
            <a:r>
              <a:rPr lang="en-US" dirty="0"/>
              <a:t> on month-to-month contract type are 6.32x likely to churn</a:t>
            </a:r>
          </a:p>
          <a:p>
            <a:pPr marL="285750" indent="-285750">
              <a:buFont typeface="Arial" panose="020B0604020202020204" pitchFamily="34" charset="0"/>
              <a:buChar char="•"/>
            </a:pPr>
            <a:r>
              <a:rPr lang="en-US" dirty="0"/>
              <a:t>Customers </a:t>
            </a:r>
            <a:r>
              <a:rPr lang="en-US" sz="1800" dirty="0">
                <a:effectLst/>
                <a:latin typeface="Times New Roman" panose="02020603050405020304" pitchFamily="18" charset="0"/>
                <a:ea typeface="Times New Roman" panose="02020603050405020304" pitchFamily="18" charset="0"/>
              </a:rPr>
              <a:t>without Online Security or Tech Support are significantly more likely to churn.</a:t>
            </a:r>
            <a:endParaRPr lang="en-US" dirty="0"/>
          </a:p>
          <a:p>
            <a:endParaRPr lang="en-US" dirty="0"/>
          </a:p>
        </p:txBody>
      </p:sp>
      <p:pic>
        <p:nvPicPr>
          <p:cNvPr id="3" name="Picture 2">
            <a:extLst>
              <a:ext uri="{FF2B5EF4-FFF2-40B4-BE49-F238E27FC236}">
                <a16:creationId xmlns:a16="http://schemas.microsoft.com/office/drawing/2014/main" id="{6095FD50-6F80-4F6D-B48B-93A73D9D86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2726" y="1071562"/>
            <a:ext cx="5763274" cy="4663440"/>
          </a:xfrm>
          <a:prstGeom prst="rect">
            <a:avLst/>
          </a:prstGeom>
        </p:spPr>
      </p:pic>
    </p:spTree>
    <p:extLst>
      <p:ext uri="{BB962C8B-B14F-4D97-AF65-F5344CB8AC3E}">
        <p14:creationId xmlns:p14="http://schemas.microsoft.com/office/powerpoint/2010/main" val="9496625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D5425A-479B-45F9-8D10-8D269B8C0E2D}"/>
              </a:ext>
            </a:extLst>
          </p:cNvPr>
          <p:cNvSpPr>
            <a:spLocks noGrp="1"/>
          </p:cNvSpPr>
          <p:nvPr>
            <p:ph type="title"/>
          </p:nvPr>
        </p:nvSpPr>
        <p:spPr>
          <a:xfrm>
            <a:off x="838200" y="365126"/>
            <a:ext cx="10515600" cy="920750"/>
          </a:xfrm>
        </p:spPr>
        <p:txBody>
          <a:bodyPr>
            <a:normAutofit/>
          </a:bodyPr>
          <a:lstStyle/>
          <a:p>
            <a:r>
              <a:rPr lang="en-US" sz="2800" b="1" dirty="0">
                <a:latin typeface="Times New Roman" panose="02020603050405020304" pitchFamily="18" charset="0"/>
                <a:cs typeface="Times New Roman" panose="02020603050405020304" pitchFamily="18" charset="0"/>
              </a:rPr>
              <a:t>Churn Analysis</a:t>
            </a:r>
          </a:p>
        </p:txBody>
      </p:sp>
      <p:pic>
        <p:nvPicPr>
          <p:cNvPr id="5" name="Content Placeholder 4">
            <a:extLst>
              <a:ext uri="{FF2B5EF4-FFF2-40B4-BE49-F238E27FC236}">
                <a16:creationId xmlns:a16="http://schemas.microsoft.com/office/drawing/2014/main" id="{840F0F0A-478C-4CCC-8136-9BB409D1B39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199" y="1285876"/>
            <a:ext cx="10515599" cy="4891087"/>
          </a:xfrm>
        </p:spPr>
      </p:pic>
    </p:spTree>
    <p:extLst>
      <p:ext uri="{BB962C8B-B14F-4D97-AF65-F5344CB8AC3E}">
        <p14:creationId xmlns:p14="http://schemas.microsoft.com/office/powerpoint/2010/main" val="1830897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100000">
              <a:schemeClr val="accent1">
                <a:lumMod val="60000"/>
                <a:lumOff val="40000"/>
              </a:schemeClr>
            </a:gs>
            <a:gs pos="0">
              <a:schemeClr val="tx2">
                <a:lumMod val="20000"/>
                <a:lumOff val="80000"/>
              </a:schemeClr>
            </a:gs>
          </a:gsLst>
          <a:path path="rect">
            <a:fillToRect l="100000" t="100000"/>
          </a:path>
        </a:gra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759183B-88F3-4482-8E26-93155CD31B0C}"/>
              </a:ext>
            </a:extLst>
          </p:cNvPr>
          <p:cNvSpPr txBox="1"/>
          <p:nvPr/>
        </p:nvSpPr>
        <p:spPr>
          <a:xfrm>
            <a:off x="1078706" y="342900"/>
            <a:ext cx="4886325" cy="523220"/>
          </a:xfrm>
          <a:prstGeom prst="rect">
            <a:avLst/>
          </a:prstGeom>
          <a:noFill/>
        </p:spPr>
        <p:txBody>
          <a:bodyPr wrap="square" rtlCol="0">
            <a:spAutoFit/>
          </a:bodyPr>
          <a:lstStyle/>
          <a:p>
            <a:r>
              <a:rPr lang="en-US" sz="2800" b="1" dirty="0"/>
              <a:t>Key Insights</a:t>
            </a:r>
          </a:p>
        </p:txBody>
      </p:sp>
      <p:sp>
        <p:nvSpPr>
          <p:cNvPr id="5" name="TextBox 4">
            <a:extLst>
              <a:ext uri="{FF2B5EF4-FFF2-40B4-BE49-F238E27FC236}">
                <a16:creationId xmlns:a16="http://schemas.microsoft.com/office/drawing/2014/main" id="{C5132660-200B-442B-BF9B-F3AE70440322}"/>
              </a:ext>
            </a:extLst>
          </p:cNvPr>
          <p:cNvSpPr txBox="1"/>
          <p:nvPr/>
        </p:nvSpPr>
        <p:spPr>
          <a:xfrm>
            <a:off x="885825" y="1328738"/>
            <a:ext cx="10158413" cy="3447098"/>
          </a:xfrm>
          <a:prstGeom prst="rect">
            <a:avLst/>
          </a:prstGeom>
          <a:noFill/>
        </p:spPr>
        <p:txBody>
          <a:bodyPr wrap="square" rtlCol="0">
            <a:spAutoFit/>
          </a:bodyPr>
          <a:lstStyle/>
          <a:p>
            <a:pPr marL="342900" indent="-342900" algn="just">
              <a:buFont typeface="Arial" panose="020B0604020202020204" pitchFamily="34" charset="0"/>
              <a:buChar char="•"/>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Customers on </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month-to-month contracts</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experience the highest churn rate and are </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6.32 times more likely to leave</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than customers on longer-term contracts.</a:t>
            </a:r>
          </a:p>
          <a:p>
            <a:pPr marL="342900" indent="-342900" algn="just">
              <a:buFont typeface="Arial" panose="020B0604020202020204" pitchFamily="34" charset="0"/>
              <a:buChar char="•"/>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Customers without </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Online Security</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Tech Support</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or </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Device Protection</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services also show significantly higher churn.</a:t>
            </a:r>
            <a:endParaRPr lang="en-US" sz="2000" dirty="0">
              <a:latin typeface="Times New Roman" panose="02020603050405020304" pitchFamily="18" charset="0"/>
              <a:ea typeface="Calibri" panose="020F0502020204030204" pitchFamily="34" charset="0"/>
              <a:cs typeface="Times New Roman" panose="02020603050405020304" pitchFamily="18" charset="0"/>
            </a:endParaRPr>
          </a:p>
          <a:p>
            <a:pPr marL="342900" indent="-342900" algn="just">
              <a:buFont typeface="Arial" panose="020B0604020202020204" pitchFamily="34" charset="0"/>
              <a:buChar char="•"/>
            </a:pPr>
            <a:r>
              <a:rPr lang="en-US" sz="2000" dirty="0">
                <a:latin typeface="Times New Roman" panose="02020603050405020304" pitchFamily="18" charset="0"/>
                <a:ea typeface="Calibri" panose="020F0502020204030204" pitchFamily="34" charset="0"/>
                <a:cs typeface="Times New Roman" panose="02020603050405020304" pitchFamily="18" charset="0"/>
              </a:rPr>
              <a:t>C</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ustomers using </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fiber optic internet</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and those who pay through </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electronic checks</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exhibit higher churn rates than other customer groups.</a:t>
            </a:r>
          </a:p>
          <a:p>
            <a:pPr marL="342900" indent="-342900" algn="just">
              <a:buFont typeface="Arial" panose="020B0604020202020204" pitchFamily="34" charset="0"/>
              <a:buChar char="•"/>
            </a:pPr>
            <a:r>
              <a:rPr lang="en-US" sz="2000" dirty="0">
                <a:latin typeface="Times New Roman" panose="02020603050405020304" pitchFamily="18" charset="0"/>
                <a:ea typeface="Calibri" panose="020F0502020204030204" pitchFamily="34" charset="0"/>
                <a:cs typeface="Times New Roman" panose="02020603050405020304" pitchFamily="18" charset="0"/>
              </a:rPr>
              <a:t>There is a </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strong relationship between customer tenure and retention. Customers who have remained with the company for longer periods are less likely to churn.</a:t>
            </a:r>
          </a:p>
          <a:p>
            <a:pPr marL="342900" indent="-342900" algn="just">
              <a:buFont typeface="Arial" panose="020B0604020202020204" pitchFamily="34" charset="0"/>
              <a:buChar char="•"/>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Customers who use </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Electronic Check</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as their payment method have the highest churn rate compared to customers using automatic bank transfers, credit cards, or mailed checks.</a:t>
            </a:r>
          </a:p>
          <a:p>
            <a:endParaRPr lang="en-US" dirty="0"/>
          </a:p>
        </p:txBody>
      </p:sp>
    </p:spTree>
    <p:extLst>
      <p:ext uri="{BB962C8B-B14F-4D97-AF65-F5344CB8AC3E}">
        <p14:creationId xmlns:p14="http://schemas.microsoft.com/office/powerpoint/2010/main" val="21218373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12BF4-CF7E-4966-99A0-C6445FDD8ACB}"/>
              </a:ext>
            </a:extLst>
          </p:cNvPr>
          <p:cNvSpPr>
            <a:spLocks noGrp="1"/>
          </p:cNvSpPr>
          <p:nvPr>
            <p:ph type="title"/>
          </p:nvPr>
        </p:nvSpPr>
        <p:spPr>
          <a:xfrm>
            <a:off x="838200" y="336551"/>
            <a:ext cx="10515600" cy="692150"/>
          </a:xfrm>
        </p:spPr>
        <p:txBody>
          <a:bodyPr>
            <a:normAutofit/>
          </a:bodyPr>
          <a:lstStyle/>
          <a:p>
            <a:r>
              <a:rPr lang="en-US" sz="2800" b="1" dirty="0">
                <a:effectLst/>
                <a:latin typeface="Times New Roman" panose="02020603050405020304" pitchFamily="18" charset="0"/>
                <a:ea typeface="Times New Roman" panose="02020603050405020304" pitchFamily="18" charset="0"/>
                <a:cs typeface="Times New Roman" panose="02020603050405020304" pitchFamily="18" charset="0"/>
              </a:rPr>
              <a:t>Business Risks &amp; Opportunities</a:t>
            </a:r>
            <a:endParaRPr lang="en-US" sz="6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7CCA73C-1CB4-41C7-80A3-6765DAC80A10}"/>
              </a:ext>
            </a:extLst>
          </p:cNvPr>
          <p:cNvSpPr>
            <a:spLocks noGrp="1"/>
          </p:cNvSpPr>
          <p:nvPr>
            <p:ph idx="1"/>
          </p:nvPr>
        </p:nvSpPr>
        <p:spPr/>
        <p:txBody>
          <a:bodyPr/>
          <a:lstStyle/>
          <a:p>
            <a:pPr marL="0" marR="0" indent="0">
              <a:lnSpc>
                <a:spcPct val="107000"/>
              </a:lnSpc>
              <a:spcBef>
                <a:spcPts val="0"/>
              </a:spcBef>
              <a:spcAft>
                <a:spcPts val="800"/>
              </a:spcAft>
              <a:buNone/>
            </a:pPr>
            <a:r>
              <a:rPr lang="en-US" sz="2000" b="1" dirty="0">
                <a:effectLst/>
                <a:latin typeface="Times New Roman" panose="02020603050405020304" pitchFamily="18" charset="0"/>
                <a:ea typeface="Times New Roman" panose="02020603050405020304" pitchFamily="18" charset="0"/>
                <a:cs typeface="Times New Roman" panose="02020603050405020304" pitchFamily="18" charset="0"/>
              </a:rPr>
              <a:t>Business Risks</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High revenue leakage from customer attrition. </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Increased customer acquisition costs. </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Reduced customer lifetime value. </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endParaRPr lang="en-US" sz="2000" b="1"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indent="0">
              <a:lnSpc>
                <a:spcPct val="107000"/>
              </a:lnSpc>
              <a:spcBef>
                <a:spcPts val="0"/>
              </a:spcBef>
              <a:spcAft>
                <a:spcPts val="800"/>
              </a:spcAft>
              <a:buNone/>
            </a:pPr>
            <a:r>
              <a:rPr lang="en-US" sz="2000" b="1" dirty="0">
                <a:effectLst/>
                <a:latin typeface="Times New Roman" panose="02020603050405020304" pitchFamily="18" charset="0"/>
                <a:ea typeface="Times New Roman" panose="02020603050405020304" pitchFamily="18" charset="0"/>
                <a:cs typeface="Times New Roman" panose="02020603050405020304" pitchFamily="18" charset="0"/>
              </a:rPr>
              <a:t>Business Opportunities</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Increase long-term contract adoption. </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Bundle premium services. </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Implement predictive churn monitoring. </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10556434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100000">
              <a:schemeClr val="accent5">
                <a:lumMod val="20000"/>
                <a:lumOff val="80000"/>
              </a:schemeClr>
            </a:gs>
            <a:gs pos="0">
              <a:schemeClr val="accent1">
                <a:lumMod val="45000"/>
                <a:lumOff val="55000"/>
              </a:schemeClr>
            </a:gs>
          </a:gsLst>
          <a:path path="rect">
            <a:fillToRect l="100000" t="100000"/>
          </a:path>
        </a:gra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20E86E4-C275-4520-8243-BFFF0F3EED9B}"/>
              </a:ext>
            </a:extLst>
          </p:cNvPr>
          <p:cNvSpPr txBox="1"/>
          <p:nvPr/>
        </p:nvSpPr>
        <p:spPr>
          <a:xfrm>
            <a:off x="301824" y="387013"/>
            <a:ext cx="6329363" cy="584775"/>
          </a:xfrm>
          <a:prstGeom prst="rect">
            <a:avLst/>
          </a:prstGeom>
          <a:noFill/>
        </p:spPr>
        <p:txBody>
          <a:bodyPr wrap="square" rtlCol="0">
            <a:spAutoFit/>
          </a:bodyPr>
          <a:lstStyle/>
          <a:p>
            <a:r>
              <a:rPr lang="en-US" sz="3200" b="1" dirty="0"/>
              <a:t>Recommendations</a:t>
            </a:r>
          </a:p>
        </p:txBody>
      </p:sp>
      <p:sp>
        <p:nvSpPr>
          <p:cNvPr id="6" name="TextBox 5">
            <a:extLst>
              <a:ext uri="{FF2B5EF4-FFF2-40B4-BE49-F238E27FC236}">
                <a16:creationId xmlns:a16="http://schemas.microsoft.com/office/drawing/2014/main" id="{730AA3BF-864F-431A-AF9D-073DFA897A34}"/>
              </a:ext>
            </a:extLst>
          </p:cNvPr>
          <p:cNvSpPr txBox="1"/>
          <p:nvPr/>
        </p:nvSpPr>
        <p:spPr>
          <a:xfrm>
            <a:off x="157163" y="1209675"/>
            <a:ext cx="3486150" cy="2631490"/>
          </a:xfrm>
          <a:prstGeom prst="rect">
            <a:avLst/>
          </a:prstGeom>
          <a:noFill/>
        </p:spPr>
        <p:txBody>
          <a:bodyPr wrap="square" rtlCol="0">
            <a:spAutoFit/>
          </a:bodyPr>
          <a:lstStyle/>
          <a:p>
            <a:pPr marR="0"/>
            <a:r>
              <a:rPr lang="en-US" b="1" dirty="0">
                <a:effectLst/>
                <a:latin typeface="Times New Roman" panose="02020603050405020304" pitchFamily="18" charset="0"/>
                <a:ea typeface="Times New Roman" panose="02020603050405020304" pitchFamily="18" charset="0"/>
              </a:rPr>
              <a:t>1. Encourage Customers to Subscribe to Long-Term Contracts</a:t>
            </a:r>
          </a:p>
          <a:p>
            <a:pPr marR="0"/>
            <a:endParaRPr lang="en-US" sz="1400" b="1" dirty="0">
              <a:effectLst/>
              <a:latin typeface="Times New Roman" panose="02020603050405020304" pitchFamily="18" charset="0"/>
              <a:ea typeface="Times New Roman" panose="02020603050405020304" pitchFamily="18" charset="0"/>
            </a:endParaRPr>
          </a:p>
          <a:p>
            <a:pPr marL="0" marR="0"/>
            <a:r>
              <a:rPr lang="en-US" sz="1400" dirty="0">
                <a:effectLst/>
                <a:latin typeface="Times New Roman" panose="02020603050405020304" pitchFamily="18" charset="0"/>
                <a:ea typeface="Times New Roman" panose="02020603050405020304" pitchFamily="18" charset="0"/>
              </a:rPr>
              <a:t>Introduce attractive discounts, loyalty rewards, or exclusive benefits for customers who migrate from month-to-month subscriptions to one-year or two-year contracts. This strategy will improve customer retention and provide more predictable revenue.</a:t>
            </a:r>
          </a:p>
        </p:txBody>
      </p:sp>
      <p:sp>
        <p:nvSpPr>
          <p:cNvPr id="7" name="TextBox 6">
            <a:extLst>
              <a:ext uri="{FF2B5EF4-FFF2-40B4-BE49-F238E27FC236}">
                <a16:creationId xmlns:a16="http://schemas.microsoft.com/office/drawing/2014/main" id="{C0B1C225-863C-4856-9C21-0F92B6BB6552}"/>
              </a:ext>
            </a:extLst>
          </p:cNvPr>
          <p:cNvSpPr txBox="1"/>
          <p:nvPr/>
        </p:nvSpPr>
        <p:spPr>
          <a:xfrm>
            <a:off x="4336256" y="1105286"/>
            <a:ext cx="3138488" cy="2431435"/>
          </a:xfrm>
          <a:prstGeom prst="rect">
            <a:avLst/>
          </a:prstGeom>
          <a:noFill/>
        </p:spPr>
        <p:txBody>
          <a:bodyPr wrap="square" rtlCol="0">
            <a:spAutoFit/>
          </a:bodyPr>
          <a:lstStyle/>
          <a:p>
            <a:pPr marL="0" marR="0"/>
            <a:r>
              <a:rPr lang="en-US" sz="1800" b="1" dirty="0">
                <a:effectLst/>
                <a:latin typeface="Times New Roman" panose="02020603050405020304" pitchFamily="18" charset="0"/>
                <a:ea typeface="Times New Roman" panose="02020603050405020304" pitchFamily="18" charset="0"/>
              </a:rPr>
              <a:t>2. </a:t>
            </a:r>
            <a:r>
              <a:rPr lang="en-US" b="1" dirty="0">
                <a:latin typeface="Times New Roman" panose="02020603050405020304" pitchFamily="18" charset="0"/>
              </a:rPr>
              <a:t>Strengthen</a:t>
            </a:r>
            <a:r>
              <a:rPr lang="en-US" b="1" dirty="0">
                <a:effectLst/>
                <a:latin typeface="Times New Roman" panose="02020603050405020304" pitchFamily="18" charset="0"/>
                <a:ea typeface="Times New Roman" panose="02020603050405020304" pitchFamily="18" charset="0"/>
              </a:rPr>
              <a:t> Technical Support Services</a:t>
            </a:r>
          </a:p>
          <a:p>
            <a:pPr marL="0" marR="0"/>
            <a:endParaRPr lang="en-US" sz="1400" dirty="0">
              <a:latin typeface="Times New Roman" panose="02020603050405020304" pitchFamily="18" charset="0"/>
            </a:endParaRPr>
          </a:p>
          <a:p>
            <a:pPr marL="0" marR="0"/>
            <a:r>
              <a:rPr lang="en-US" sz="1400" dirty="0">
                <a:effectLst/>
                <a:ea typeface="Times New Roman" panose="02020603050405020304" pitchFamily="18" charset="0"/>
              </a:rPr>
              <a:t>Invest in responsive, high-quality technical support to resolve customer issues quickly. Providing 24/7 support, faster issue resolution, and proactive customer assistance will improve customer satisfaction and reduce churn.</a:t>
            </a:r>
          </a:p>
          <a:p>
            <a:endParaRPr lang="en-US" dirty="0"/>
          </a:p>
        </p:txBody>
      </p:sp>
      <p:sp>
        <p:nvSpPr>
          <p:cNvPr id="8" name="TextBox 7">
            <a:extLst>
              <a:ext uri="{FF2B5EF4-FFF2-40B4-BE49-F238E27FC236}">
                <a16:creationId xmlns:a16="http://schemas.microsoft.com/office/drawing/2014/main" id="{BBFF9AD4-2A07-45B0-A950-A3E0DC421411}"/>
              </a:ext>
            </a:extLst>
          </p:cNvPr>
          <p:cNvSpPr txBox="1"/>
          <p:nvPr/>
        </p:nvSpPr>
        <p:spPr>
          <a:xfrm>
            <a:off x="8167687" y="1213009"/>
            <a:ext cx="3486150" cy="2215991"/>
          </a:xfrm>
          <a:prstGeom prst="rect">
            <a:avLst/>
          </a:prstGeom>
          <a:noFill/>
        </p:spPr>
        <p:txBody>
          <a:bodyPr wrap="square" rtlCol="0">
            <a:spAutoFit/>
          </a:bodyPr>
          <a:lstStyle/>
          <a:p>
            <a:pPr marL="0" marR="0"/>
            <a:r>
              <a:rPr lang="en-US" dirty="0"/>
              <a:t>3.</a:t>
            </a:r>
            <a:r>
              <a:rPr lang="en-US" sz="1800" b="1" dirty="0">
                <a:effectLst/>
                <a:latin typeface="Times New Roman" panose="02020603050405020304" pitchFamily="18" charset="0"/>
                <a:ea typeface="Times New Roman" panose="02020603050405020304" pitchFamily="18" charset="0"/>
              </a:rPr>
              <a:t> Improve Payment Experience</a:t>
            </a:r>
          </a:p>
          <a:p>
            <a:pPr marL="0" marR="0"/>
            <a:endParaRPr lang="en-US" sz="1800" b="1" dirty="0">
              <a:effectLst/>
              <a:latin typeface="Times New Roman" panose="02020603050405020304" pitchFamily="18" charset="0"/>
              <a:ea typeface="Times New Roman" panose="02020603050405020304" pitchFamily="18" charset="0"/>
            </a:endParaRPr>
          </a:p>
          <a:p>
            <a:pPr marL="0" marR="0"/>
            <a:r>
              <a:rPr lang="en-US" sz="1400" dirty="0">
                <a:effectLst/>
                <a:latin typeface="Times New Roman" panose="02020603050405020304" pitchFamily="18" charset="0"/>
                <a:ea typeface="Times New Roman" panose="02020603050405020304" pitchFamily="18" charset="0"/>
              </a:rPr>
              <a:t>Encourage customers using Electronic Check to switch to automatic payment methods such as bank transfers or credit card payments. Offering incentives for automatic payments can improve convenience and reduce churn associated with billing issues.</a:t>
            </a:r>
          </a:p>
          <a:p>
            <a:endParaRPr lang="en-US" dirty="0"/>
          </a:p>
        </p:txBody>
      </p:sp>
      <p:sp>
        <p:nvSpPr>
          <p:cNvPr id="12" name="TextBox 11">
            <a:extLst>
              <a:ext uri="{FF2B5EF4-FFF2-40B4-BE49-F238E27FC236}">
                <a16:creationId xmlns:a16="http://schemas.microsoft.com/office/drawing/2014/main" id="{7918E03A-1437-4284-8045-17FA59E84D60}"/>
              </a:ext>
            </a:extLst>
          </p:cNvPr>
          <p:cNvSpPr txBox="1"/>
          <p:nvPr/>
        </p:nvSpPr>
        <p:spPr>
          <a:xfrm>
            <a:off x="301824" y="4348222"/>
            <a:ext cx="3341489" cy="2000548"/>
          </a:xfrm>
          <a:prstGeom prst="rect">
            <a:avLst/>
          </a:prstGeom>
          <a:noFill/>
        </p:spPr>
        <p:txBody>
          <a:bodyPr wrap="square">
            <a:spAutoFit/>
          </a:bodyPr>
          <a:lstStyle/>
          <a:p>
            <a:pPr marL="0" marR="0"/>
            <a:r>
              <a:rPr lang="en-US" b="1" dirty="0">
                <a:latin typeface="Times New Roman" panose="02020603050405020304" pitchFamily="18" charset="0"/>
                <a:ea typeface="Times New Roman" panose="02020603050405020304" pitchFamily="18" charset="0"/>
              </a:rPr>
              <a:t>4</a:t>
            </a:r>
            <a:r>
              <a:rPr lang="en-US" sz="1800" b="1" dirty="0">
                <a:effectLst/>
                <a:latin typeface="Times New Roman" panose="02020603050405020304" pitchFamily="18" charset="0"/>
                <a:ea typeface="Times New Roman" panose="02020603050405020304" pitchFamily="18" charset="0"/>
              </a:rPr>
              <a:t>. Promote Online Security Services</a:t>
            </a:r>
          </a:p>
          <a:p>
            <a:pPr marL="0" marR="0"/>
            <a:endParaRPr lang="en-US" b="1" dirty="0">
              <a:effectLst/>
              <a:latin typeface="Times New Roman" panose="02020603050405020304" pitchFamily="18" charset="0"/>
              <a:ea typeface="Times New Roman" panose="02020603050405020304" pitchFamily="18" charset="0"/>
            </a:endParaRPr>
          </a:p>
          <a:p>
            <a:pPr marL="0" marR="0"/>
            <a:r>
              <a:rPr lang="en-US" sz="1400" dirty="0">
                <a:effectLst/>
                <a:latin typeface="Times New Roman" panose="02020603050405020304" pitchFamily="18" charset="0"/>
                <a:ea typeface="Times New Roman" panose="02020603050405020304" pitchFamily="18" charset="0"/>
              </a:rPr>
              <a:t>Educate customers on the benefits of Online Security. Customers who use Online Security services are less likely to leave because they perceive greater value from the company's offerings.</a:t>
            </a:r>
          </a:p>
        </p:txBody>
      </p:sp>
      <p:sp>
        <p:nvSpPr>
          <p:cNvPr id="13" name="TextBox 12">
            <a:extLst>
              <a:ext uri="{FF2B5EF4-FFF2-40B4-BE49-F238E27FC236}">
                <a16:creationId xmlns:a16="http://schemas.microsoft.com/office/drawing/2014/main" id="{BE828B95-861C-475B-93CE-31C97B79E637}"/>
              </a:ext>
            </a:extLst>
          </p:cNvPr>
          <p:cNvSpPr txBox="1"/>
          <p:nvPr/>
        </p:nvSpPr>
        <p:spPr>
          <a:xfrm>
            <a:off x="4003180" y="4289643"/>
            <a:ext cx="3341489" cy="2215991"/>
          </a:xfrm>
          <a:prstGeom prst="rect">
            <a:avLst/>
          </a:prstGeom>
          <a:noFill/>
        </p:spPr>
        <p:txBody>
          <a:bodyPr wrap="square">
            <a:spAutoFit/>
          </a:bodyPr>
          <a:lstStyle/>
          <a:p>
            <a:pPr marL="0" marR="0"/>
            <a:r>
              <a:rPr lang="en-US" sz="1800" b="1" dirty="0">
                <a:effectLst/>
                <a:latin typeface="Times New Roman" panose="02020603050405020304" pitchFamily="18" charset="0"/>
                <a:ea typeface="Times New Roman" panose="02020603050405020304" pitchFamily="18" charset="0"/>
              </a:rPr>
              <a:t>5. Review Fiber Optic Customer Experience</a:t>
            </a:r>
          </a:p>
          <a:p>
            <a:pPr marL="0" marR="0"/>
            <a:endParaRPr lang="en-US" sz="1800" b="1" dirty="0">
              <a:effectLst/>
              <a:latin typeface="Times New Roman" panose="02020603050405020304" pitchFamily="18" charset="0"/>
              <a:ea typeface="Times New Roman" panose="02020603050405020304" pitchFamily="18" charset="0"/>
            </a:endParaRPr>
          </a:p>
          <a:p>
            <a:r>
              <a:rPr lang="en-US" sz="1400" dirty="0">
                <a:effectLst/>
                <a:latin typeface="Times New Roman" panose="02020603050405020304" pitchFamily="18" charset="0"/>
                <a:ea typeface="Calibri" panose="020F0502020204030204" pitchFamily="34" charset="0"/>
                <a:cs typeface="Times New Roman" panose="02020603050405020304" pitchFamily="18" charset="0"/>
              </a:rPr>
              <a:t>Although Fiber Optic is the most popular internet service, it is also associated with higher churn. Management should investigate customer complaints, assess service quality, network reliability, pricing, and customer support for Fiber Optic users</a:t>
            </a:r>
            <a:r>
              <a:rPr lang="en-US" sz="1400" dirty="0">
                <a:effectLst/>
                <a:latin typeface="Calibri" panose="020F0502020204030204" pitchFamily="34" charset="0"/>
                <a:ea typeface="Calibri" panose="020F0502020204030204" pitchFamily="34" charset="0"/>
                <a:cs typeface="Times New Roman" panose="02020603050405020304" pitchFamily="18" charset="0"/>
              </a:rPr>
              <a:t>. </a:t>
            </a:r>
            <a:endParaRPr lang="en-US" sz="1400" dirty="0">
              <a:effectLst/>
              <a:latin typeface="Times New Roman" panose="02020603050405020304" pitchFamily="18" charset="0"/>
              <a:ea typeface="Times New Roman" panose="02020603050405020304" pitchFamily="18" charset="0"/>
            </a:endParaRPr>
          </a:p>
        </p:txBody>
      </p:sp>
      <p:sp>
        <p:nvSpPr>
          <p:cNvPr id="14" name="TextBox 13">
            <a:extLst>
              <a:ext uri="{FF2B5EF4-FFF2-40B4-BE49-F238E27FC236}">
                <a16:creationId xmlns:a16="http://schemas.microsoft.com/office/drawing/2014/main" id="{3BD1E605-6022-4485-AF1C-8F5B878B6DEB}"/>
              </a:ext>
            </a:extLst>
          </p:cNvPr>
          <p:cNvSpPr txBox="1"/>
          <p:nvPr/>
        </p:nvSpPr>
        <p:spPr>
          <a:xfrm>
            <a:off x="7704536" y="4289644"/>
            <a:ext cx="4000199" cy="2274570"/>
          </a:xfrm>
          <a:prstGeom prst="rect">
            <a:avLst/>
          </a:prstGeom>
          <a:noFill/>
        </p:spPr>
        <p:txBody>
          <a:bodyPr wrap="square">
            <a:spAutoFit/>
          </a:bodyPr>
          <a:lstStyle/>
          <a:p>
            <a:pPr marL="0" marR="0"/>
            <a:r>
              <a:rPr lang="en-US" b="1" dirty="0">
                <a:latin typeface="Times New Roman" panose="02020603050405020304" pitchFamily="18" charset="0"/>
                <a:ea typeface="Times New Roman" panose="02020603050405020304" pitchFamily="18" charset="0"/>
              </a:rPr>
              <a:t>6</a:t>
            </a:r>
            <a:r>
              <a:rPr lang="en-US" sz="1800" b="1" dirty="0">
                <a:effectLst/>
                <a:latin typeface="Times New Roman" panose="02020603050405020304" pitchFamily="18" charset="0"/>
                <a:ea typeface="Times New Roman" panose="02020603050405020304" pitchFamily="18" charset="0"/>
              </a:rPr>
              <a:t>. Develop Early Customer Retention Programs</a:t>
            </a:r>
          </a:p>
          <a:p>
            <a:pPr marL="0" marR="0"/>
            <a:endParaRPr lang="en-US" sz="1800" b="1" dirty="0">
              <a:effectLst/>
              <a:latin typeface="Times New Roman" panose="02020603050405020304" pitchFamily="18" charset="0"/>
              <a:ea typeface="Times New Roman" panose="02020603050405020304" pitchFamily="18" charset="0"/>
            </a:endParaRPr>
          </a:p>
          <a:p>
            <a:r>
              <a:rPr lang="en-US" sz="1400" dirty="0">
                <a:effectLst/>
                <a:latin typeface="Times New Roman" panose="02020603050405020304" pitchFamily="18" charset="0"/>
                <a:ea typeface="Calibri" panose="020F0502020204030204" pitchFamily="34" charset="0"/>
                <a:cs typeface="Times New Roman" panose="02020603050405020304" pitchFamily="18" charset="0"/>
              </a:rPr>
              <a:t>Since customers with shorter tenure are more likely to churn, implement onboarding programs, regular follow-up communication, and personalized offers during the first 12 months of the customer relationship. Early engagement can significantly improve long-term customer loyalty</a:t>
            </a:r>
            <a:endParaRPr lang="en-US" sz="14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559012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4B9897-6D64-40E2-9921-683DA7E92859}"/>
              </a:ext>
            </a:extLst>
          </p:cNvPr>
          <p:cNvSpPr>
            <a:spLocks noGrp="1"/>
          </p:cNvSpPr>
          <p:nvPr>
            <p:ph type="title"/>
          </p:nvPr>
        </p:nvSpPr>
        <p:spPr>
          <a:xfrm>
            <a:off x="838200" y="365125"/>
            <a:ext cx="10515600" cy="777875"/>
          </a:xfrm>
        </p:spPr>
        <p:txBody>
          <a:bodyPr>
            <a:normAutofit/>
          </a:bodyPr>
          <a:lstStyle/>
          <a:p>
            <a:r>
              <a:rPr lang="en-US" sz="2800" b="1" dirty="0">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0D321DD8-C7C0-4D64-855C-AE03E9F9125D}"/>
              </a:ext>
            </a:extLst>
          </p:cNvPr>
          <p:cNvSpPr>
            <a:spLocks noGrp="1"/>
          </p:cNvSpPr>
          <p:nvPr>
            <p:ph idx="1"/>
          </p:nvPr>
        </p:nvSpPr>
        <p:spPr>
          <a:xfrm>
            <a:off x="838200" y="1468437"/>
            <a:ext cx="10515600" cy="4351338"/>
          </a:xfrm>
        </p:spPr>
        <p:txBody>
          <a:bodyPr/>
          <a:lstStyle/>
          <a:p>
            <a:pPr marL="0" indent="0">
              <a:buNone/>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Customer churn is primarily driven by contract type, value-added services, payment method, and customer tenure. By encouraging long-term contracts, improving service quality, and implementing targeted retention strategies, ABC Communications can significantly reduce churn and improve profitability.</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30830401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231</TotalTime>
  <Words>669</Words>
  <Application>Microsoft Office PowerPoint</Application>
  <PresentationFormat>Widescreen</PresentationFormat>
  <Paragraphs>61</Paragraphs>
  <Slides>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Arial</vt:lpstr>
      <vt:lpstr>Calibri</vt:lpstr>
      <vt:lpstr>Calibri Light</vt:lpstr>
      <vt:lpstr>Symbol</vt:lpstr>
      <vt:lpstr>Times New Roman</vt:lpstr>
      <vt:lpstr>Office Theme</vt:lpstr>
      <vt:lpstr>PowerPoint Presentation</vt:lpstr>
      <vt:lpstr>PowerPoint Presentation</vt:lpstr>
      <vt:lpstr>Customer Overview</vt:lpstr>
      <vt:lpstr>PowerPoint Presentation</vt:lpstr>
      <vt:lpstr>Churn Analysis</vt:lpstr>
      <vt:lpstr>PowerPoint Presentation</vt:lpstr>
      <vt:lpstr>Business Risks &amp; Opportunities</vt:lpstr>
      <vt:lpstr>PowerPoint Presentation</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Admin</cp:lastModifiedBy>
  <cp:revision>17</cp:revision>
  <dcterms:created xsi:type="dcterms:W3CDTF">2026-08-07T06:07:03Z</dcterms:created>
  <dcterms:modified xsi:type="dcterms:W3CDTF">2026-08-07T22:46:38Z</dcterms:modified>
</cp:coreProperties>
</file>